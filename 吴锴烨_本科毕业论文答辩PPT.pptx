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24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840480" cy="8229600"/>
          </a:xfrm>
          <a:prstGeom prst="rect">
            <a:avLst/>
          </a:prstGeom>
          <a:solidFill>
            <a:srgbClr val="124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YaHei"/>
              </a:rPr>
              <a:t>厦门大学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91440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r>
              <a:rPr sz="1200" b="0">
                <a:solidFill>
                  <a:srgbClr val="D7E6F2"/>
                </a:solidFill>
                <a:latin typeface="Microsoft YaHei"/>
              </a:rPr>
              <a:t>Xiamen University</a:t>
            </a:r>
          </a:p>
        </p:txBody>
      </p:sp>
      <p:pic>
        <p:nvPicPr>
          <p:cNvPr id="7" name="Picture 6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6854" y="1097280"/>
            <a:ext cx="7165811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09160" y="5440680"/>
            <a:ext cx="8321040" cy="9875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r>
              <a:rPr sz="3400" b="1">
                <a:solidFill>
                  <a:srgbClr val="12477C"/>
                </a:solidFill>
                <a:latin typeface="Microsoft YaHei"/>
              </a:rPr>
              <a:t>全球海洋生态系统</a:t>
            </a:r>
            <a:br/>
            <a:r>
              <a:rPr sz="3400" b="1">
                <a:solidFill>
                  <a:srgbClr val="12477C"/>
                </a:solidFill>
                <a:latin typeface="Microsoft YaHei"/>
              </a:rPr>
              <a:t>气候变化信号出现时间研究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583680"/>
            <a:ext cx="63093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r>
              <a:rPr sz="1800" b="0">
                <a:solidFill>
                  <a:srgbClr val="2D3748"/>
                </a:solidFill>
                <a:latin typeface="Microsoft YaHei"/>
              </a:rPr>
              <a:t>本科毕业论文答辩｜海洋科学专业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7104888"/>
            <a:ext cx="658368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r>
              <a:rPr sz="1500" b="0">
                <a:solidFill>
                  <a:srgbClr val="6E7882"/>
                </a:solidFill>
                <a:latin typeface="Microsoft YaHei"/>
              </a:rPr>
              <a:t>答辩人：吴锴烨　指导教师：王杉霖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6629400"/>
            <a:ext cx="347472" cy="347472"/>
          </a:xfrm>
          <a:prstGeom prst="ellipse">
            <a:avLst/>
          </a:prstGeom>
          <a:solidFill>
            <a:srgbClr val="24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44168" y="6629400"/>
            <a:ext cx="347472" cy="347472"/>
          </a:xfrm>
          <a:prstGeom prst="ellipse">
            <a:avLst/>
          </a:prstGeom>
          <a:solidFill>
            <a:srgbClr val="C29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911095" y="6629400"/>
            <a:ext cx="347472" cy="347472"/>
          </a:xfrm>
          <a:prstGeom prst="ellipse">
            <a:avLst/>
          </a:prstGeom>
          <a:solidFill>
            <a:srgbClr val="458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24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86968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r>
              <a:rPr sz="2500" b="1">
                <a:solidFill>
                  <a:srgbClr val="12477C"/>
                </a:solidFill>
                <a:latin typeface="Microsoft YaHei"/>
              </a:rPr>
              <a:t>为什么要研究“出现时间”？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01752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200" b="0">
                <a:solidFill>
                  <a:srgbClr val="6E7882"/>
                </a:solidFill>
                <a:latin typeface="Microsoft YaHei"/>
              </a:rPr>
              <a:t>研究背景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55880" y="7635240"/>
            <a:ext cx="11430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200" b="0">
                <a:solidFill>
                  <a:srgbClr val="6E7882"/>
                </a:solidFill>
                <a:latin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635240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r>
              <a:rPr sz="1000" b="0">
                <a:solidFill>
                  <a:srgbClr val="6E7882"/>
                </a:solidFill>
                <a:latin typeface="Microsoft YaHei"/>
              </a:rPr>
              <a:t>本科毕业论文答辩｜厦门大学 海洋与地球学院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r>
              <a:rPr sz="2700" b="1">
                <a:solidFill>
                  <a:srgbClr val="12477C"/>
                </a:solidFill>
                <a:latin typeface="Microsoft YaHei"/>
              </a:rPr>
              <a:t>海洋变化不只是一条趋势线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4023360" cy="1554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r>
              <a:rPr sz="2100" b="0">
                <a:solidFill>
                  <a:srgbClr val="2D3748"/>
                </a:solidFill>
                <a:latin typeface="Microsoft YaHei"/>
              </a:rPr>
              <a:t>暖化、酸化、脱氧和层化增强会沿着食物网传导；但年际—年代际自然波动会把长期信号“盖住”。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886200"/>
            <a:ext cx="1143000" cy="548640"/>
          </a:xfrm>
          <a:prstGeom prst="roundRect">
            <a:avLst/>
          </a:prstGeom>
          <a:solidFill>
            <a:srgbClr val="AF4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外部强迫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3886200"/>
            <a:ext cx="1143000" cy="548640"/>
          </a:xfrm>
          <a:prstGeom prst="roundRect">
            <a:avLst/>
          </a:prstGeom>
          <a:solidFill>
            <a:srgbClr val="C29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自然变率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3886200"/>
            <a:ext cx="1143000" cy="548640"/>
          </a:xfrm>
          <a:prstGeom prst="roundRect">
            <a:avLst/>
          </a:prstGeom>
          <a:solidFill>
            <a:srgbClr val="458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生态响应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0" y="2103120"/>
            <a:ext cx="566928" cy="566928"/>
          </a:xfrm>
          <a:prstGeom prst="ellipse">
            <a:avLst/>
          </a:prstGeom>
          <a:solidFill>
            <a:srgbClr val="24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761487"/>
            <a:ext cx="160020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2D3748"/>
                </a:solidFill>
                <a:latin typeface="Microsoft YaHei"/>
              </a:rPr>
              <a:t>气候强迫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13248" y="141732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2468A0"/>
                </a:solidFill>
                <a:latin typeface="Microsoft YaHei"/>
              </a:rPr>
              <a:t>气候</a:t>
            </a:r>
            <a:br/>
            <a:r>
              <a:rPr sz="1600" b="1">
                <a:solidFill>
                  <a:srgbClr val="2468A0"/>
                </a:solidFill>
                <a:latin typeface="Microsoft YaHei"/>
              </a:rPr>
              <a:t>强迫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355080" y="2249424"/>
            <a:ext cx="914400" cy="256032"/>
          </a:xfrm>
          <a:prstGeom prst="rightArrow">
            <a:avLst/>
          </a:prstGeom>
          <a:solidFill>
            <a:srgbClr val="B4B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43800" y="2103120"/>
            <a:ext cx="566928" cy="566928"/>
          </a:xfrm>
          <a:prstGeom prst="ellipse">
            <a:avLst/>
          </a:prstGeom>
          <a:solidFill>
            <a:srgbClr val="C29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2761487"/>
            <a:ext cx="160020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2D3748"/>
                </a:solidFill>
                <a:latin typeface="Microsoft YaHei"/>
              </a:rPr>
              <a:t>环境改变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7768" y="141732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C2913C"/>
                </a:solidFill>
                <a:latin typeface="Microsoft YaHei"/>
              </a:rPr>
              <a:t>环境</a:t>
            </a:r>
            <a:br/>
            <a:r>
              <a:rPr sz="1600" b="1">
                <a:solidFill>
                  <a:srgbClr val="C2913C"/>
                </a:solidFill>
                <a:latin typeface="Microsoft YaHei"/>
              </a:rPr>
              <a:t>改变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229600" y="2249424"/>
            <a:ext cx="914400" cy="256032"/>
          </a:xfrm>
          <a:prstGeom prst="rightArrow">
            <a:avLst/>
          </a:prstGeom>
          <a:solidFill>
            <a:srgbClr val="B4B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18320" y="2103120"/>
            <a:ext cx="566928" cy="566928"/>
          </a:xfrm>
          <a:prstGeom prst="ellipse">
            <a:avLst/>
          </a:prstGeom>
          <a:solidFill>
            <a:srgbClr val="458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2761487"/>
            <a:ext cx="160020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2D3748"/>
                </a:solidFill>
                <a:latin typeface="Microsoft YaHei"/>
              </a:rPr>
              <a:t>浮游生物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2288" y="141732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458469"/>
                </a:solidFill>
                <a:latin typeface="Microsoft YaHei"/>
              </a:rPr>
              <a:t>浮游</a:t>
            </a:r>
            <a:br/>
            <a:r>
              <a:rPr sz="1600" b="1">
                <a:solidFill>
                  <a:srgbClr val="458469"/>
                </a:solidFill>
                <a:latin typeface="Microsoft YaHei"/>
              </a:rPr>
              <a:t>生物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10104120" y="2249424"/>
            <a:ext cx="914400" cy="256032"/>
          </a:xfrm>
          <a:prstGeom prst="rightArrow">
            <a:avLst/>
          </a:prstGeom>
          <a:solidFill>
            <a:srgbClr val="B4B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292840" y="2103120"/>
            <a:ext cx="566928" cy="566928"/>
          </a:xfrm>
          <a:prstGeom prst="ellipse">
            <a:avLst/>
          </a:prstGeom>
          <a:solidFill>
            <a:srgbClr val="AF4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19" y="2761487"/>
            <a:ext cx="160020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2D3748"/>
                </a:solidFill>
                <a:latin typeface="Microsoft YaHei"/>
              </a:rPr>
              <a:t>鱼类功能群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36808" y="141732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AF4A41"/>
                </a:solidFill>
                <a:latin typeface="Microsoft YaHei"/>
              </a:rPr>
              <a:t>鱼类</a:t>
            </a:r>
            <a:br/>
            <a:r>
              <a:rPr sz="1600" b="1">
                <a:solidFill>
                  <a:srgbClr val="AF4A41"/>
                </a:solidFill>
                <a:latin typeface="Microsoft YaHei"/>
              </a:rPr>
              <a:t>功能群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892040"/>
            <a:ext cx="7955279" cy="749808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500" b="1">
                <a:solidFill>
                  <a:srgbClr val="12477C"/>
                </a:solidFill>
                <a:latin typeface="Microsoft YaHei"/>
              </a:rPr>
              <a:t>核心问题：哪些生态层级最早稳定超过自然波动范围？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42432" y="5897880"/>
            <a:ext cx="75895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000" b="0">
                <a:solidFill>
                  <a:srgbClr val="2D3748"/>
                </a:solidFill>
                <a:latin typeface="Microsoft YaHei"/>
              </a:rPr>
              <a:t>这能帮助判断气候风险何时真正“显现”，而不是只看短期起伏。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24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86968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r>
              <a:rPr sz="2500" b="1">
                <a:solidFill>
                  <a:srgbClr val="12477C"/>
                </a:solidFill>
                <a:latin typeface="Microsoft YaHei"/>
              </a:rPr>
              <a:t>研究框架：从环境到鱼类的三层级追踪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01752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200" b="0">
                <a:solidFill>
                  <a:srgbClr val="6E7882"/>
                </a:solidFill>
                <a:latin typeface="Microsoft YaHei"/>
              </a:rPr>
              <a:t>数据与模型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55880" y="7635240"/>
            <a:ext cx="11430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200" b="0">
                <a:solidFill>
                  <a:srgbClr val="6E7882"/>
                </a:solidFill>
                <a:latin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635240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r>
              <a:rPr sz="1000" b="0">
                <a:solidFill>
                  <a:srgbClr val="6E7882"/>
                </a:solidFill>
                <a:latin typeface="Microsoft YaHei"/>
              </a:rPr>
              <a:t>本科毕业论文答辩｜厦门大学 海洋与地球学院</a:t>
            </a:r>
          </a:p>
        </p:txBody>
      </p:sp>
      <p:pic>
        <p:nvPicPr>
          <p:cNvPr id="7" name="Picture 6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7" y="1019268"/>
            <a:ext cx="6629400" cy="372218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35240" y="1024128"/>
            <a:ext cx="1828800" cy="566928"/>
          </a:xfrm>
          <a:prstGeom prst="roundRect">
            <a:avLst/>
          </a:prstGeom>
          <a:solidFill>
            <a:srgbClr val="124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CESM2-LE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65792" y="1024128"/>
            <a:ext cx="1828800" cy="566928"/>
          </a:xfrm>
          <a:prstGeom prst="roundRect">
            <a:avLst/>
          </a:prstGeom>
          <a:solidFill>
            <a:srgbClr val="458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MARBL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905488" y="1024128"/>
            <a:ext cx="1828800" cy="566928"/>
          </a:xfrm>
          <a:prstGeom prst="roundRect">
            <a:avLst/>
          </a:prstGeom>
          <a:solidFill>
            <a:srgbClr val="AF4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FEISTY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057400"/>
            <a:ext cx="1993392" cy="502920"/>
          </a:xfrm>
          <a:prstGeom prst="roundRect">
            <a:avLst/>
          </a:prstGeom>
          <a:solidFill>
            <a:srgbClr val="124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环境变量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2697480"/>
            <a:ext cx="2011680" cy="102412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500" b="0">
                <a:solidFill>
                  <a:srgbClr val="2D3748"/>
                </a:solidFill>
                <a:latin typeface="Microsoft YaHei"/>
              </a:rPr>
              <a:t>温度、硝酸盐、硅酸盐、铁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400032" y="2971800"/>
            <a:ext cx="347472" cy="201168"/>
          </a:xfrm>
          <a:prstGeom prst="rightArrow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28632" y="2057400"/>
            <a:ext cx="1993392" cy="502920"/>
          </a:xfrm>
          <a:prstGeom prst="roundRect">
            <a:avLst/>
          </a:prstGeom>
          <a:solidFill>
            <a:srgbClr val="458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低营养级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8632" y="2697480"/>
            <a:ext cx="2011680" cy="102412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500" b="0">
                <a:solidFill>
                  <a:srgbClr val="2D3748"/>
                </a:solidFill>
                <a:latin typeface="Microsoft YaHei"/>
              </a:rPr>
              <a:t>NPP、浮游植物、浮游动物、POC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11667744" y="2971800"/>
            <a:ext cx="347472" cy="201168"/>
          </a:xfrm>
          <a:prstGeom prst="rightArrow">
            <a:avLst/>
          </a:prstGeom>
          <a:solidFill>
            <a:srgbClr val="AA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896344" y="2057400"/>
            <a:ext cx="1993392" cy="502920"/>
          </a:xfrm>
          <a:prstGeom prst="roundRect">
            <a:avLst/>
          </a:prstGeom>
          <a:solidFill>
            <a:srgbClr val="AF4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鱼类功能群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96344" y="2697480"/>
            <a:ext cx="2011680" cy="102412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500" b="0">
                <a:solidFill>
                  <a:srgbClr val="2D3748"/>
                </a:solidFill>
                <a:latin typeface="Microsoft YaHei"/>
              </a:rPr>
              <a:t>饵料鱼、浮泳鱼、底栖鱼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577840"/>
            <a:ext cx="12527280" cy="8686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400" b="1">
                <a:solidFill>
                  <a:srgbClr val="12477C"/>
                </a:solidFill>
                <a:latin typeface="Microsoft YaHei"/>
              </a:rPr>
              <a:t>思路很简单：先看气候信号在物理/化学环境中出现，再看它是否继续传到浮游生态系统和鱼类功能群。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24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86968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r>
              <a:rPr sz="2500" b="1">
                <a:solidFill>
                  <a:srgbClr val="12477C"/>
                </a:solidFill>
                <a:latin typeface="Microsoft YaHei"/>
              </a:rPr>
              <a:t>方法：用 ToE 判断信号何时“冒出来”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01752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200" b="0">
                <a:solidFill>
                  <a:srgbClr val="6E7882"/>
                </a:solidFill>
                <a:latin typeface="Microsoft YaHei"/>
              </a:rPr>
              <a:t>指标定义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55880" y="7635240"/>
            <a:ext cx="11430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200" b="0">
                <a:solidFill>
                  <a:srgbClr val="6E7882"/>
                </a:solidFill>
                <a:latin typeface="Microsoft Ya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635240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r>
              <a:rPr sz="1000" b="0">
                <a:solidFill>
                  <a:srgbClr val="6E7882"/>
                </a:solidFill>
                <a:latin typeface="Microsoft YaHei"/>
              </a:rPr>
              <a:t>本科毕业论文答辩｜厦门大学 海洋与地球学院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291840"/>
            <a:ext cx="11612880" cy="64008"/>
          </a:xfrm>
          <a:prstGeom prst="rect">
            <a:avLst/>
          </a:prstGeom>
          <a:solidFill>
            <a:srgbClr val="6E7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3182112"/>
            <a:ext cx="32004" cy="283464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3511296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6E7882"/>
                </a:solidFill>
                <a:latin typeface="Microsoft YaHei"/>
              </a:rPr>
              <a:t>1920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3182112"/>
            <a:ext cx="32004" cy="283464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0592" y="3511296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6E7882"/>
                </a:solidFill>
                <a:latin typeface="Microsoft YaHei"/>
              </a:rPr>
              <a:t>1950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3182112"/>
            <a:ext cx="32004" cy="283464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9631" y="3511296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6E7882"/>
                </a:solidFill>
                <a:latin typeface="Microsoft YaHei"/>
              </a:rPr>
              <a:t>2020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3182112"/>
            <a:ext cx="32004" cy="283464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17152" y="3511296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6E7882"/>
                </a:solidFill>
                <a:latin typeface="Microsoft YaHei"/>
              </a:rPr>
              <a:t>2060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710160" y="3182112"/>
            <a:ext cx="32004" cy="283464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417552" y="3511296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6E7882"/>
                </a:solidFill>
                <a:latin typeface="Microsoft YaHei"/>
              </a:rPr>
              <a:t>2100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2542032"/>
            <a:ext cx="1645920" cy="438912"/>
          </a:xfrm>
          <a:prstGeom prst="rect">
            <a:avLst/>
          </a:prstGeom>
          <a:solidFill>
            <a:srgbClr val="E8E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7008" y="2578608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C2913C"/>
                </a:solidFill>
                <a:latin typeface="Microsoft YaHei"/>
              </a:rPr>
              <a:t>基准期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2377440"/>
            <a:ext cx="1920240" cy="594360"/>
          </a:xfrm>
          <a:prstGeom prst="roundRect">
            <a:avLst/>
          </a:prstGeom>
          <a:solidFill>
            <a:srgbClr val="124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468880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连续5年</a:t>
            </a:r>
            <a:br/>
            <a:r>
              <a:rPr sz="1500" b="1">
                <a:solidFill>
                  <a:srgbClr val="FFFFFF"/>
                </a:solidFill>
                <a:latin typeface="Microsoft YaHei"/>
              </a:rPr>
              <a:t>超过±2σ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7205472" y="3017520"/>
            <a:ext cx="384048" cy="685800"/>
          </a:xfrm>
          <a:prstGeom prst="downArrow">
            <a:avLst/>
          </a:prstGeom>
          <a:solidFill>
            <a:srgbClr val="124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97280" y="1325880"/>
            <a:ext cx="3246120" cy="731520"/>
          </a:xfrm>
          <a:prstGeom prst="roundRect">
            <a:avLst/>
          </a:prstGeom>
          <a:solidFill>
            <a:srgbClr val="124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ToE = 首次稳定越界年份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17720" y="1325880"/>
            <a:ext cx="3246120" cy="731520"/>
          </a:xfrm>
          <a:prstGeom prst="roundRect">
            <a:avLst/>
          </a:prstGeom>
          <a:solidFill>
            <a:srgbClr val="458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信号 = 集合平均变化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1325880"/>
            <a:ext cx="3246120" cy="731520"/>
          </a:xfrm>
          <a:prstGeom prst="roundRect">
            <a:avLst/>
          </a:prstGeom>
          <a:solidFill>
            <a:srgbClr val="C29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噪声 = 基准期波动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658600" y="1325880"/>
            <a:ext cx="1920240" cy="731520"/>
          </a:xfrm>
          <a:prstGeom prst="roundRect">
            <a:avLst/>
          </a:prstGeom>
          <a:solidFill>
            <a:srgbClr val="AF4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S/N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754880"/>
            <a:ext cx="11978640" cy="9601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600" b="1">
                <a:solidFill>
                  <a:srgbClr val="12477C"/>
                </a:solidFill>
                <a:latin typeface="Microsoft YaHei"/>
              </a:rPr>
              <a:t>这样做的好处：不只问“有没有变化”，而是问“变化是否已经大到能从自然波动中被识别”。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6172200"/>
            <a:ext cx="10698480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000" b="0">
                <a:solidFill>
                  <a:srgbClr val="2D3748"/>
                </a:solidFill>
                <a:latin typeface="Microsoft YaHei"/>
              </a:rPr>
              <a:t>答辩时可用一句话解释：ToE 就像把长期趋势和背景噪声分开，看气候变化信号什么时候真正清楚。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24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86968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r>
              <a:rPr sz="2500" b="1">
                <a:solidFill>
                  <a:srgbClr val="12477C"/>
                </a:solidFill>
                <a:latin typeface="Microsoft YaHei"/>
              </a:rPr>
              <a:t>结果一：环境信号最先出现，温度最稳定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01752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200" b="0">
                <a:solidFill>
                  <a:srgbClr val="6E7882"/>
                </a:solidFill>
                <a:latin typeface="Microsoft YaHei"/>
              </a:rPr>
              <a:t>环境变量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55880" y="7635240"/>
            <a:ext cx="11430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200" b="0">
                <a:solidFill>
                  <a:srgbClr val="6E7882"/>
                </a:solidFill>
                <a:latin typeface="Microsoft Ya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635240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r>
              <a:rPr sz="1000" b="0">
                <a:solidFill>
                  <a:srgbClr val="6E7882"/>
                </a:solidFill>
                <a:latin typeface="Microsoft YaHei"/>
              </a:rPr>
              <a:t>本科毕业论文答辩｜厦门大学 海洋与地球学院</a:t>
            </a:r>
          </a:p>
        </p:txBody>
      </p:sp>
      <p:pic>
        <p:nvPicPr>
          <p:cNvPr id="7" name="Picture 6" descr="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126" y="960120"/>
            <a:ext cx="4630706" cy="6263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60920" y="1143000"/>
            <a:ext cx="61722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 tIns="109728" wrap="square"/>
          <a:lstStyle/>
          <a:p>
            <a:pPr algn="ctr">
              <a:defRPr sz="1800" b="1">
                <a:solidFill>
                  <a:srgbClr val="12477C"/>
                </a:solidFill>
                <a:latin typeface="Microsoft YaHei"/>
              </a:defRPr>
            </a:pPr>
            <a:r>
              <a:t>主要发现</a:t>
            </a:r>
          </a:p>
          <a:p>
            <a:pPr>
              <a:spcBef>
                <a:spcPts val="800"/>
              </a:spcBef>
              <a:defRPr sz="1500">
                <a:solidFill>
                  <a:srgbClr val="2D3748"/>
                </a:solidFill>
                <a:latin typeface="Microsoft YaHei"/>
              </a:defRPr>
            </a:pPr>
            <a:r>
              <a:t>上层150 m温度升高范围最广，很多海区在2000年前后已超过自然变率。</a:t>
            </a:r>
          </a:p>
          <a:p>
            <a:pPr>
              <a:spcBef>
                <a:spcPts val="800"/>
              </a:spcBef>
              <a:defRPr sz="1500">
                <a:solidFill>
                  <a:srgbClr val="2D3748"/>
                </a:solidFill>
                <a:latin typeface="Microsoft YaHei"/>
              </a:defRPr>
            </a:pPr>
            <a:r>
              <a:t>底层温度响应略晚，但北大西洋较早出现信号。</a:t>
            </a:r>
          </a:p>
          <a:p>
            <a:pPr>
              <a:spcBef>
                <a:spcPts val="800"/>
              </a:spcBef>
              <a:defRPr sz="1500">
                <a:solidFill>
                  <a:srgbClr val="2D3748"/>
                </a:solidFill>
                <a:latin typeface="Microsoft YaHei"/>
              </a:defRPr>
            </a:pPr>
            <a:r>
              <a:t>硝酸盐、硅酸盐、铁的空间差异更强。</a:t>
            </a:r>
          </a:p>
        </p:txBody>
      </p:sp>
      <p:pic>
        <p:nvPicPr>
          <p:cNvPr id="9" name="Picture 8" descr="image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1682" y="3977639"/>
            <a:ext cx="2364955" cy="306323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818120" y="6995160"/>
            <a:ext cx="5257800" cy="502920"/>
          </a:xfrm>
          <a:prstGeom prst="roundRect">
            <a:avLst/>
          </a:prstGeom>
          <a:solidFill>
            <a:srgbClr val="124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先有环境改变，后有生态响应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24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86968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r>
              <a:rPr sz="2500" b="1">
                <a:solidFill>
                  <a:srgbClr val="12477C"/>
                </a:solidFill>
                <a:latin typeface="Microsoft YaHei"/>
              </a:rPr>
              <a:t>环境变量 ToE：早晚差异主要来自“信号/噪声”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01752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200" b="0">
                <a:solidFill>
                  <a:srgbClr val="6E7882"/>
                </a:solidFill>
                <a:latin typeface="Microsoft YaHei"/>
              </a:rPr>
              <a:t>出现时间与信噪比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55880" y="7635240"/>
            <a:ext cx="11430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200" b="0">
                <a:solidFill>
                  <a:srgbClr val="6E7882"/>
                </a:solidFill>
                <a:latin typeface="Microsoft YaHe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635240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r>
              <a:rPr sz="1000" b="0">
                <a:solidFill>
                  <a:srgbClr val="6E7882"/>
                </a:solidFill>
                <a:latin typeface="Microsoft YaHei"/>
              </a:rPr>
              <a:t>本科毕业论文答辩｜厦门大学 海洋与地球学院</a:t>
            </a:r>
          </a:p>
        </p:txBody>
      </p:sp>
      <p:pic>
        <p:nvPicPr>
          <p:cNvPr id="7" name="Picture 6" descr="image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766" y="914400"/>
            <a:ext cx="5314547" cy="6355080"/>
          </a:xfrm>
          <a:prstGeom prst="rect">
            <a:avLst/>
          </a:prstGeom>
        </p:spPr>
      </p:pic>
      <p:pic>
        <p:nvPicPr>
          <p:cNvPr id="8" name="Picture 7" descr="image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6573" y="914400"/>
            <a:ext cx="6375212" cy="6355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7242048"/>
            <a:ext cx="1289304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900" b="1">
                <a:solidFill>
                  <a:srgbClr val="12477C"/>
                </a:solidFill>
                <a:latin typeface="Microsoft YaHei"/>
              </a:rPr>
              <a:t>温度信号强且噪声相对小；营养盐受环流和区域过程影响，ToE 更破碎。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24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86968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r>
              <a:rPr sz="2500" b="1">
                <a:solidFill>
                  <a:srgbClr val="12477C"/>
                </a:solidFill>
                <a:latin typeface="Microsoft YaHei"/>
              </a:rPr>
              <a:t>结果二：低营养级响应更晚、更破碎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01752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200" b="0">
                <a:solidFill>
                  <a:srgbClr val="6E7882"/>
                </a:solidFill>
                <a:latin typeface="Microsoft YaHei"/>
              </a:rPr>
              <a:t>浮游生态系统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55880" y="7635240"/>
            <a:ext cx="11430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200" b="0">
                <a:solidFill>
                  <a:srgbClr val="6E7882"/>
                </a:solidFill>
                <a:latin typeface="Microsoft YaHe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635240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r>
              <a:rPr sz="1000" b="0">
                <a:solidFill>
                  <a:srgbClr val="6E7882"/>
                </a:solidFill>
                <a:latin typeface="Microsoft YaHei"/>
              </a:rPr>
              <a:t>本科毕业论文答辩｜厦门大学 海洋与地球学院</a:t>
            </a:r>
          </a:p>
        </p:txBody>
      </p:sp>
      <p:pic>
        <p:nvPicPr>
          <p:cNvPr id="7" name="Picture 6" descr="image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927" y="960119"/>
            <a:ext cx="4563105" cy="6172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60920" y="1143000"/>
            <a:ext cx="6172200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 tIns="109728" wrap="square"/>
          <a:lstStyle/>
          <a:p>
            <a:pPr algn="ctr">
              <a:defRPr sz="1800" b="1">
                <a:solidFill>
                  <a:srgbClr val="458469"/>
                </a:solidFill>
                <a:latin typeface="Microsoft YaHei"/>
              </a:defRPr>
            </a:pPr>
            <a:r>
              <a:t>主要发现</a:t>
            </a:r>
          </a:p>
          <a:p>
            <a:pPr>
              <a:spcBef>
                <a:spcPts val="800"/>
              </a:spcBef>
              <a:defRPr sz="1500">
                <a:solidFill>
                  <a:srgbClr val="2D3748"/>
                </a:solidFill>
                <a:latin typeface="Microsoft YaHei"/>
              </a:defRPr>
            </a:pPr>
            <a:r>
              <a:t>净初级生产力和浮游生物的自然波动更大，长期信号更难稳定识别。</a:t>
            </a:r>
          </a:p>
          <a:p>
            <a:pPr>
              <a:spcBef>
                <a:spcPts val="800"/>
              </a:spcBef>
              <a:defRPr sz="1500">
                <a:solidFill>
                  <a:srgbClr val="2D3748"/>
                </a:solidFill>
                <a:latin typeface="Microsoft YaHei"/>
              </a:defRPr>
            </a:pPr>
            <a:r>
              <a:t>小型浮游植物与硅藻呈现一定竞争关系。</a:t>
            </a:r>
          </a:p>
          <a:p>
            <a:pPr>
              <a:spcBef>
                <a:spcPts val="800"/>
              </a:spcBef>
              <a:defRPr sz="1500">
                <a:solidFill>
                  <a:srgbClr val="2D3748"/>
                </a:solidFill>
                <a:latin typeface="Microsoft YaHei"/>
              </a:defRPr>
            </a:pPr>
            <a:r>
              <a:t>中型浮游动物变化与硅藻更一致。</a:t>
            </a:r>
          </a:p>
        </p:txBody>
      </p:sp>
      <p:pic>
        <p:nvPicPr>
          <p:cNvPr id="9" name="Picture 8" descr="image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8822" y="3977639"/>
            <a:ext cx="2364955" cy="306323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863840" y="6995160"/>
            <a:ext cx="5074920" cy="502920"/>
          </a:xfrm>
          <a:prstGeom prst="roundRect">
            <a:avLst/>
          </a:prstGeom>
          <a:solidFill>
            <a:srgbClr val="458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生态变量不是简单跟着温度走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24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86968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r>
              <a:rPr sz="2500" b="1">
                <a:solidFill>
                  <a:srgbClr val="12477C"/>
                </a:solidFill>
                <a:latin typeface="Microsoft YaHei"/>
              </a:rPr>
              <a:t>低营养级 ToE：生态噪声让信号出现推迟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01752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200" b="0">
                <a:solidFill>
                  <a:srgbClr val="6E7882"/>
                </a:solidFill>
                <a:latin typeface="Microsoft YaHei"/>
              </a:rPr>
              <a:t>出现时间与信噪比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55880" y="7635240"/>
            <a:ext cx="11430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200" b="0">
                <a:solidFill>
                  <a:srgbClr val="6E7882"/>
                </a:solidFill>
                <a:latin typeface="Microsoft YaHe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635240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r>
              <a:rPr sz="1000" b="0">
                <a:solidFill>
                  <a:srgbClr val="6E7882"/>
                </a:solidFill>
                <a:latin typeface="Microsoft YaHei"/>
              </a:rPr>
              <a:t>本科毕业论文答辩｜厦门大学 海洋与地球学院</a:t>
            </a:r>
          </a:p>
        </p:txBody>
      </p:sp>
      <p:pic>
        <p:nvPicPr>
          <p:cNvPr id="7" name="Picture 6" descr="image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509" y="868680"/>
            <a:ext cx="5352781" cy="6400799"/>
          </a:xfrm>
          <a:prstGeom prst="rect">
            <a:avLst/>
          </a:prstGeom>
        </p:spPr>
      </p:pic>
      <p:pic>
        <p:nvPicPr>
          <p:cNvPr id="8" name="Picture 7" descr="image1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3641" y="868680"/>
            <a:ext cx="6421077" cy="6400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7223760"/>
            <a:ext cx="1252728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900" b="1">
                <a:solidFill>
                  <a:srgbClr val="12477C"/>
                </a:solidFill>
                <a:latin typeface="Microsoft YaHei"/>
              </a:rPr>
              <a:t>多数低营养级变量集中在2040—2060年后才更清楚，区域上呈斑块状。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24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86968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r>
              <a:rPr sz="2500" b="1">
                <a:solidFill>
                  <a:srgbClr val="12477C"/>
                </a:solidFill>
                <a:latin typeface="Microsoft YaHei"/>
              </a:rPr>
              <a:t>结果三：鱼类功能群整体下降，但出现时间不同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01752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200" b="0">
                <a:solidFill>
                  <a:srgbClr val="6E7882"/>
                </a:solidFill>
                <a:latin typeface="Microsoft YaHei"/>
              </a:rPr>
              <a:t>高级营养级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55880" y="7635240"/>
            <a:ext cx="11430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200" b="0">
                <a:solidFill>
                  <a:srgbClr val="6E7882"/>
                </a:solidFill>
                <a:latin typeface="Microsoft YaHe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635240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r>
              <a:rPr sz="1000" b="0">
                <a:solidFill>
                  <a:srgbClr val="6E7882"/>
                </a:solidFill>
                <a:latin typeface="Microsoft YaHei"/>
              </a:rPr>
              <a:t>本科毕业论文答辩｜厦门大学 海洋与地球学院</a:t>
            </a:r>
          </a:p>
        </p:txBody>
      </p:sp>
      <p:pic>
        <p:nvPicPr>
          <p:cNvPr id="7" name="Picture 6" descr="image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56818"/>
            <a:ext cx="6400800" cy="5258762"/>
          </a:xfrm>
          <a:prstGeom prst="rect">
            <a:avLst/>
          </a:prstGeom>
        </p:spPr>
      </p:pic>
      <p:pic>
        <p:nvPicPr>
          <p:cNvPr id="8" name="Picture 7" descr="image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8877" y="1005840"/>
            <a:ext cx="3079165" cy="23774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60920" y="4160520"/>
            <a:ext cx="1874519" cy="502920"/>
          </a:xfrm>
          <a:prstGeom prst="roundRect">
            <a:avLst/>
          </a:prstGeom>
          <a:solidFill>
            <a:srgbClr val="AF4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浮泳鱼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4736592"/>
            <a:ext cx="1874519" cy="102412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500" b="0">
                <a:solidFill>
                  <a:srgbClr val="2D3748"/>
                </a:solidFill>
                <a:latin typeface="Microsoft YaHei"/>
              </a:rPr>
              <a:t>下降 ToE 最早</a:t>
            </a:r>
            <a:br/>
            <a:r>
              <a:rPr sz="1500" b="0">
                <a:solidFill>
                  <a:srgbClr val="2D3748"/>
                </a:solidFill>
                <a:latin typeface="Microsoft YaHei"/>
              </a:rPr>
              <a:t>部分海区早于1980年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4160520"/>
            <a:ext cx="1874519" cy="502920"/>
          </a:xfrm>
          <a:prstGeom prst="roundRect">
            <a:avLst/>
          </a:prstGeom>
          <a:solidFill>
            <a:srgbClr val="C29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饵料鱼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4736592"/>
            <a:ext cx="1874519" cy="102412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500" b="0">
                <a:solidFill>
                  <a:srgbClr val="2D3748"/>
                </a:solidFill>
                <a:latin typeface="Microsoft YaHei"/>
              </a:rPr>
              <a:t>分布更广</a:t>
            </a:r>
            <a:br/>
            <a:r>
              <a:rPr sz="1500" b="0">
                <a:solidFill>
                  <a:srgbClr val="2D3748"/>
                </a:solidFill>
                <a:latin typeface="Microsoft YaHei"/>
              </a:rPr>
              <a:t>多在2000—2020年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658600" y="4160520"/>
            <a:ext cx="1874519" cy="502920"/>
          </a:xfrm>
          <a:prstGeom prst="roundRect">
            <a:avLst/>
          </a:prstGeom>
          <a:solidFill>
            <a:srgbClr val="124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底栖鱼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58600" y="4736592"/>
            <a:ext cx="1874519" cy="102412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500" b="0">
                <a:solidFill>
                  <a:srgbClr val="2D3748"/>
                </a:solidFill>
                <a:latin typeface="Microsoft YaHei"/>
              </a:rPr>
              <a:t>出现最晚</a:t>
            </a:r>
            <a:br/>
            <a:r>
              <a:rPr sz="1500" b="0">
                <a:solidFill>
                  <a:srgbClr val="2D3748"/>
                </a:solidFill>
                <a:latin typeface="Microsoft YaHei"/>
              </a:rPr>
              <a:t>主要在近岸/高纬区域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6263640"/>
            <a:ext cx="6355080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900" b="1">
                <a:solidFill>
                  <a:srgbClr val="12477C"/>
                </a:solidFill>
                <a:latin typeface="Microsoft YaHei"/>
              </a:rPr>
              <a:t>鱼类响应受食物供给、温度和栖息地共同控制，因此空间格局最复杂。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24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86968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r>
              <a:rPr sz="2500" b="1">
                <a:solidFill>
                  <a:srgbClr val="12477C"/>
                </a:solidFill>
                <a:latin typeface="Microsoft YaHei"/>
              </a:rPr>
              <a:t>综合认识：气候信号沿食物网逐级传导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01752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200" b="0">
                <a:solidFill>
                  <a:srgbClr val="6E7882"/>
                </a:solidFill>
                <a:latin typeface="Microsoft YaHei"/>
              </a:rPr>
              <a:t>核心结论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55880" y="7635240"/>
            <a:ext cx="11430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200" b="0">
                <a:solidFill>
                  <a:srgbClr val="6E7882"/>
                </a:solidFill>
                <a:latin typeface="Microsoft YaHe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635240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r>
              <a:rPr sz="1000" b="0">
                <a:solidFill>
                  <a:srgbClr val="6E7882"/>
                </a:solidFill>
                <a:latin typeface="Microsoft YaHei"/>
              </a:rPr>
              <a:t>本科毕业论文答辩｜厦门大学 海洋与地球学院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508760"/>
            <a:ext cx="3429000" cy="640080"/>
          </a:xfrm>
          <a:prstGeom prst="roundRect">
            <a:avLst/>
          </a:prstGeom>
          <a:solidFill>
            <a:srgbClr val="124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环境变量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3429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400" b="1">
                <a:solidFill>
                  <a:srgbClr val="12477C"/>
                </a:solidFill>
                <a:latin typeface="Microsoft YaHei"/>
              </a:rPr>
              <a:t>最早、最稳定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44952"/>
            <a:ext cx="34290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0">
                <a:solidFill>
                  <a:srgbClr val="2D3748"/>
                </a:solidFill>
                <a:latin typeface="Microsoft YaHei"/>
              </a:rPr>
              <a:t>温度尤其明显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572000" y="2240280"/>
            <a:ext cx="566928" cy="384048"/>
          </a:xfrm>
          <a:prstGeom prst="rightArrow">
            <a:avLst/>
          </a:prstGeom>
          <a:solidFill>
            <a:srgbClr val="96A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03520" y="1508760"/>
            <a:ext cx="3429000" cy="640080"/>
          </a:xfrm>
          <a:prstGeom prst="roundRect">
            <a:avLst/>
          </a:prstGeom>
          <a:solidFill>
            <a:srgbClr val="458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低营养级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331720"/>
            <a:ext cx="3429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400" b="1">
                <a:solidFill>
                  <a:srgbClr val="458469"/>
                </a:solidFill>
                <a:latin typeface="Microsoft YaHei"/>
              </a:rPr>
              <a:t>更晚、更破碎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044952"/>
            <a:ext cx="34290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0">
                <a:solidFill>
                  <a:srgbClr val="2D3748"/>
                </a:solidFill>
                <a:latin typeface="Microsoft YaHei"/>
              </a:rPr>
              <a:t>受生态过程和自然变率影响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915400" y="2240280"/>
            <a:ext cx="566928" cy="384048"/>
          </a:xfrm>
          <a:prstGeom prst="rightArrow">
            <a:avLst/>
          </a:prstGeom>
          <a:solidFill>
            <a:srgbClr val="96A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46920" y="1508760"/>
            <a:ext cx="3429000" cy="640080"/>
          </a:xfrm>
          <a:prstGeom prst="roundRect">
            <a:avLst/>
          </a:prstGeom>
          <a:solidFill>
            <a:srgbClr val="AF4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鱼类功能群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2331720"/>
            <a:ext cx="34290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400" b="1">
                <a:solidFill>
                  <a:srgbClr val="AF4A41"/>
                </a:solidFill>
                <a:latin typeface="Microsoft YaHei"/>
              </a:rPr>
              <a:t>差异最大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3044952"/>
            <a:ext cx="34290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600" b="0">
                <a:solidFill>
                  <a:srgbClr val="2D3748"/>
                </a:solidFill>
                <a:latin typeface="Microsoft YaHei"/>
              </a:rPr>
              <a:t>多重压力叠加，存在放大效应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0749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0">
                <a:solidFill>
                  <a:srgbClr val="6E7882"/>
                </a:solidFill>
                <a:latin typeface="Microsoft YaHei"/>
              </a:rPr>
              <a:t>1980前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50749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0">
                <a:solidFill>
                  <a:srgbClr val="6E7882"/>
                </a:solidFill>
                <a:latin typeface="Microsoft YaHei"/>
              </a:rPr>
              <a:t>2000—2020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50749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0">
                <a:solidFill>
                  <a:srgbClr val="6E7882"/>
                </a:solidFill>
                <a:latin typeface="Microsoft YaHei"/>
              </a:rPr>
              <a:t>2020—2040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50749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0">
                <a:solidFill>
                  <a:srgbClr val="6E7882"/>
                </a:solidFill>
                <a:latin typeface="Microsoft YaHei"/>
              </a:rPr>
              <a:t>2040—2060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08760" y="5532120"/>
            <a:ext cx="10378440" cy="73152"/>
          </a:xfrm>
          <a:prstGeom prst="rect">
            <a:avLst/>
          </a:prstGeom>
          <a:solidFill>
            <a:srgbClr val="B9C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43200" y="5349240"/>
            <a:ext cx="411480" cy="411480"/>
          </a:xfrm>
          <a:prstGeom prst="ellipse">
            <a:avLst/>
          </a:prstGeom>
          <a:solidFill>
            <a:srgbClr val="124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31720" y="5852160"/>
            <a:ext cx="123444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2D3748"/>
                </a:solidFill>
                <a:latin typeface="Microsoft YaHei"/>
              </a:rPr>
              <a:t>温度</a:t>
            </a:r>
          </a:p>
        </p:txBody>
      </p:sp>
      <p:sp>
        <p:nvSpPr>
          <p:cNvPr id="25" name="Oval 24"/>
          <p:cNvSpPr/>
          <p:nvPr/>
        </p:nvSpPr>
        <p:spPr>
          <a:xfrm>
            <a:off x="4754880" y="5349240"/>
            <a:ext cx="411480" cy="411480"/>
          </a:xfrm>
          <a:prstGeom prst="ellipse">
            <a:avLst/>
          </a:prstGeom>
          <a:solidFill>
            <a:srgbClr val="AF4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5852160"/>
            <a:ext cx="123444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2D3748"/>
                </a:solidFill>
                <a:latin typeface="Microsoft YaHei"/>
              </a:rPr>
              <a:t>浮泳鱼</a:t>
            </a:r>
          </a:p>
        </p:txBody>
      </p:sp>
      <p:sp>
        <p:nvSpPr>
          <p:cNvPr id="27" name="Oval 26"/>
          <p:cNvSpPr/>
          <p:nvPr/>
        </p:nvSpPr>
        <p:spPr>
          <a:xfrm>
            <a:off x="5852160" y="5349240"/>
            <a:ext cx="411480" cy="411480"/>
          </a:xfrm>
          <a:prstGeom prst="ellipse">
            <a:avLst/>
          </a:prstGeom>
          <a:solidFill>
            <a:srgbClr val="C29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40680" y="5852160"/>
            <a:ext cx="123444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2D3748"/>
                </a:solidFill>
                <a:latin typeface="Microsoft YaHei"/>
              </a:rPr>
              <a:t>营养盐/饵料鱼</a:t>
            </a:r>
          </a:p>
        </p:txBody>
      </p:sp>
      <p:sp>
        <p:nvSpPr>
          <p:cNvPr id="29" name="Oval 28"/>
          <p:cNvSpPr/>
          <p:nvPr/>
        </p:nvSpPr>
        <p:spPr>
          <a:xfrm>
            <a:off x="9418320" y="5349240"/>
            <a:ext cx="411480" cy="411480"/>
          </a:xfrm>
          <a:prstGeom prst="ellipse">
            <a:avLst/>
          </a:prstGeom>
          <a:solidFill>
            <a:srgbClr val="458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6840" y="5852160"/>
            <a:ext cx="123444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2D3748"/>
                </a:solidFill>
                <a:latin typeface="Microsoft YaHei"/>
              </a:rPr>
              <a:t>浮游生态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6812280"/>
            <a:ext cx="12618720" cy="502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100" b="1">
                <a:solidFill>
                  <a:srgbClr val="12477C"/>
                </a:solidFill>
                <a:latin typeface="Microsoft YaHei"/>
              </a:rPr>
              <a:t>一句话总结：气候变化信号不是同时出现，而是先改变环境，再通过食物网逐步影响生态系统。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24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886968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r>
              <a:rPr sz="2500" b="1">
                <a:solidFill>
                  <a:srgbClr val="12477C"/>
                </a:solidFill>
                <a:latin typeface="Microsoft YaHei"/>
              </a:rPr>
              <a:t>不足与展望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01752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200" b="0">
                <a:solidFill>
                  <a:srgbClr val="6E7882"/>
                </a:solidFill>
                <a:latin typeface="Microsoft YaHei"/>
              </a:rPr>
              <a:t>本科论文反思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55880" y="7635240"/>
            <a:ext cx="114300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200" b="0">
                <a:solidFill>
                  <a:srgbClr val="6E7882"/>
                </a:solidFill>
                <a:latin typeface="Microsoft YaHe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635240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r>
              <a:rPr sz="1000" b="0">
                <a:solidFill>
                  <a:srgbClr val="6E7882"/>
                </a:solidFill>
                <a:latin typeface="Microsoft YaHei"/>
              </a:rPr>
              <a:t>本科毕业论文答辩｜厦门大学 海洋与地球学院</a:t>
            </a:r>
          </a:p>
        </p:txBody>
      </p:sp>
      <p:pic>
        <p:nvPicPr>
          <p:cNvPr id="7" name="Picture 6" descr="image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03581"/>
            <a:ext cx="6217920" cy="379947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60920" y="1234440"/>
            <a:ext cx="1417320" cy="475488"/>
          </a:xfrm>
          <a:prstGeom prst="roundRect">
            <a:avLst/>
          </a:prstGeom>
          <a:solidFill>
            <a:srgbClr val="124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集合成员数量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1207008"/>
            <a:ext cx="46634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600" b="0">
                <a:solidFill>
                  <a:srgbClr val="2D3748"/>
                </a:solidFill>
                <a:latin typeface="Microsoft YaHei"/>
              </a:rPr>
              <a:t>本研究使用10个集合成员，对强自然变率海区的不确定性估计仍有限。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2807208"/>
            <a:ext cx="1417320" cy="475488"/>
          </a:xfrm>
          <a:prstGeom prst="roundRect">
            <a:avLst/>
          </a:prstGeom>
          <a:solidFill>
            <a:srgbClr val="458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模式假设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2779776"/>
            <a:ext cx="46634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600" b="0">
                <a:solidFill>
                  <a:srgbClr val="2D3748"/>
                </a:solidFill>
                <a:latin typeface="Microsoft YaHei"/>
              </a:rPr>
              <a:t>FEISTY 对鱼类功能群做了简化，真实渔业压力和物种迁移更复杂。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4379976"/>
            <a:ext cx="1417320" cy="475488"/>
          </a:xfrm>
          <a:prstGeom prst="roundRect">
            <a:avLst/>
          </a:prstGeom>
          <a:solidFill>
            <a:srgbClr val="C29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后续方向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4352544"/>
            <a:ext cx="46634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600" b="0">
                <a:solidFill>
                  <a:srgbClr val="2D3748"/>
                </a:solidFill>
                <a:latin typeface="Microsoft YaHei"/>
              </a:rPr>
              <a:t>可增加集合成员、引入观测资料和区域案例，验证 ToE 结果的稳健性。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6263640"/>
            <a:ext cx="6309360" cy="6400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900" b="1">
                <a:solidFill>
                  <a:srgbClr val="12477C"/>
                </a:solidFill>
                <a:latin typeface="Microsoft YaHei"/>
              </a:rPr>
              <a:t>这些不足也说明：ToE 更适合用来识别风险信号，而不是给出唯一确定的年份。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24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4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181874"/>
            <a:ext cx="6812280" cy="49514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" y="1188720"/>
            <a:ext cx="6126480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r>
              <a:rPr sz="3900" b="1">
                <a:solidFill>
                  <a:srgbClr val="FFFFFF"/>
                </a:solidFill>
                <a:latin typeface="Microsoft YaHei"/>
              </a:rPr>
              <a:t>感谢聆听</a:t>
            </a:r>
            <a:br/>
            <a:r>
              <a:rPr sz="3900" b="1">
                <a:solidFill>
                  <a:srgbClr val="FFFFFF"/>
                </a:solidFill>
                <a:latin typeface="Microsoft YaHei"/>
              </a:rPr>
              <a:t>请老师批评指正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743200"/>
            <a:ext cx="530352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r>
              <a:rPr sz="1800" b="0">
                <a:solidFill>
                  <a:srgbClr val="DCEBF6"/>
                </a:solidFill>
                <a:latin typeface="Microsoft YaHei"/>
              </a:rPr>
              <a:t>全球海洋生态系统气候变化信号出现时间研究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621792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 anchor="ctr">
            <a:spAutoFit/>
          </a:bodyPr>
          <a:lstStyle/>
          <a:p>
            <a:r>
              <a:rPr sz="1600" b="0">
                <a:solidFill>
                  <a:srgbClr val="DCEBF6"/>
                </a:solidFill>
                <a:latin typeface="Microsoft YaHei"/>
              </a:rPr>
              <a:t>答辩人：吴锴烨｜厦门大学</a:t>
            </a:r>
          </a:p>
        </p:txBody>
      </p:sp>
      <p:sp>
        <p:nvSpPr>
          <p:cNvPr id="8" name="Rectangle 7"/>
          <p:cNvSpPr/>
          <p:nvPr/>
        </p:nvSpPr>
        <p:spPr>
          <a:xfrm>
            <a:off x="987552" y="2514600"/>
            <a:ext cx="3749039" cy="54864"/>
          </a:xfrm>
          <a:prstGeom prst="rect">
            <a:avLst/>
          </a:prstGeom>
          <a:solidFill>
            <a:srgbClr val="C29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本科毕业论文答辩PPT</dc:title>
  <dc:subject>全球海洋生态系统气候变化信号出现时间研究</dc:subject>
  <dc:creator>吴锴烨</dc:creator>
  <cp:keywords/>
  <dc:description/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